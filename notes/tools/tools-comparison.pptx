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636"/>
    <p:restoredTop sz="96498"/>
  </p:normalViewPr>
  <p:slideViewPr>
    <p:cSldViewPr snapToGrid="0">
      <p:cViewPr varScale="1">
        <p:scale>
          <a:sx n="127" d="100"/>
          <a:sy n="127" d="100"/>
        </p:scale>
        <p:origin x="116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AF5AD-EB54-634B-8F02-C0C5743C34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13FC7-BFB2-C042-BB60-B8FA7FFFC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8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13FC7-BFB2-C042-BB60-B8FA7FFFCE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60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8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6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3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6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2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0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5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5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198FB-DAE5-B642-A41D-81742CAC9D1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DDC8F-23FF-384D-9222-D8441C05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3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9E0850-DF80-A007-0621-3A8CB6C39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404135"/>
              </p:ext>
            </p:extLst>
          </p:nvPr>
        </p:nvGraphicFramePr>
        <p:xfrm>
          <a:off x="2" y="1"/>
          <a:ext cx="12191999" cy="68829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3773">
                  <a:extLst>
                    <a:ext uri="{9D8B030D-6E8A-4147-A177-3AD203B41FA5}">
                      <a16:colId xmlns:a16="http://schemas.microsoft.com/office/drawing/2014/main" val="1302248260"/>
                    </a:ext>
                  </a:extLst>
                </a:gridCol>
                <a:gridCol w="2725490">
                  <a:extLst>
                    <a:ext uri="{9D8B030D-6E8A-4147-A177-3AD203B41FA5}">
                      <a16:colId xmlns:a16="http://schemas.microsoft.com/office/drawing/2014/main" val="1076709518"/>
                    </a:ext>
                  </a:extLst>
                </a:gridCol>
                <a:gridCol w="2390361">
                  <a:extLst>
                    <a:ext uri="{9D8B030D-6E8A-4147-A177-3AD203B41FA5}">
                      <a16:colId xmlns:a16="http://schemas.microsoft.com/office/drawing/2014/main" val="2808636098"/>
                    </a:ext>
                  </a:extLst>
                </a:gridCol>
                <a:gridCol w="3002870">
                  <a:extLst>
                    <a:ext uri="{9D8B030D-6E8A-4147-A177-3AD203B41FA5}">
                      <a16:colId xmlns:a16="http://schemas.microsoft.com/office/drawing/2014/main" val="944197175"/>
                    </a:ext>
                  </a:extLst>
                </a:gridCol>
                <a:gridCol w="2719505">
                  <a:extLst>
                    <a:ext uri="{9D8B030D-6E8A-4147-A177-3AD203B41FA5}">
                      <a16:colId xmlns:a16="http://schemas.microsoft.com/office/drawing/2014/main" val="2734638648"/>
                    </a:ext>
                  </a:extLst>
                </a:gridCol>
              </a:tblGrid>
              <a:tr h="87680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Cluster </a:t>
                      </a:r>
                      <a:r>
                        <a:rPr lang="en-US" sz="1800" dirty="0" err="1"/>
                        <a:t>Autoscaler</a:t>
                      </a:r>
                      <a:endParaRPr lang="en-US" sz="180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De-scheduler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Fondazione Kessler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Karpenter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355" marR="137355" marT="68678" marB="68678" anchor="ctr"/>
                </a:tc>
                <a:extLst>
                  <a:ext uri="{0D108BD9-81ED-4DB2-BD59-A6C34878D82A}">
                    <a16:rowId xmlns:a16="http://schemas.microsoft.com/office/drawing/2014/main" val="1809883100"/>
                  </a:ext>
                </a:extLst>
              </a:tr>
              <a:tr h="29873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Bin packing mechanism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Autoscaler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decreases the size of the cluster when some nodes are consistently unneeded for a significant amount of time.</a:t>
                      </a:r>
                    </a:p>
                    <a:p>
                      <a:pPr algn="ctr"/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node is unneeded when it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 low utilization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all of its important pods can be moved elsewhere.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Descheduler</a:t>
                      </a:r>
                      <a:r>
                        <a:rPr lang="en-US" sz="1050" baseline="0" dirty="0"/>
                        <a:t> </a:t>
                      </a:r>
                      <a:r>
                        <a:rPr lang="en-US" sz="1050" dirty="0"/>
                        <a:t>finds pods that can be moved and evicts them. </a:t>
                      </a:r>
                    </a:p>
                    <a:p>
                      <a:pPr algn="ctr"/>
                      <a:endParaRPr lang="en-US" sz="1050" dirty="0"/>
                    </a:p>
                    <a:p>
                      <a:pPr algn="ctr"/>
                      <a:r>
                        <a:rPr lang="en-US" sz="1050" dirty="0" err="1"/>
                        <a:t>Descheduler</a:t>
                      </a:r>
                      <a:r>
                        <a:rPr lang="en-US" sz="1050" dirty="0"/>
                        <a:t> does </a:t>
                      </a:r>
                      <a:r>
                        <a:rPr lang="en-US" sz="1050" b="1" dirty="0"/>
                        <a:t>not</a:t>
                      </a:r>
                      <a:r>
                        <a:rPr lang="en-US" sz="1050" dirty="0"/>
                        <a:t> schedule replacement of evicted pods -</a:t>
                      </a:r>
                      <a:r>
                        <a:rPr lang="en-US" sz="1050" baseline="0" dirty="0"/>
                        <a:t> </a:t>
                      </a:r>
                      <a:r>
                        <a:rPr lang="en-US" sz="1050" dirty="0"/>
                        <a:t>it relies on the scheduler for that.</a:t>
                      </a:r>
                    </a:p>
                    <a:p>
                      <a:pPr algn="ctr"/>
                      <a:endParaRPr lang="en-US" sz="105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Example: using </a:t>
                      </a:r>
                      <a:r>
                        <a:rPr lang="en-US" sz="1050" dirty="0" err="1"/>
                        <a:t>HighNodeUtilization</a:t>
                      </a:r>
                      <a:r>
                        <a:rPr lang="en-US" sz="1050" dirty="0"/>
                        <a:t>, </a:t>
                      </a:r>
                      <a:r>
                        <a:rPr lang="en-US" sz="1050" dirty="0" err="1"/>
                        <a:t>descheduler</a:t>
                      </a:r>
                      <a:r>
                        <a:rPr lang="en-US" sz="1050" dirty="0"/>
                        <a:t> will rebalance the cluster based on memory by evicting pods from nodes with memory utilization lower than 20%. 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Computes</a:t>
                      </a:r>
                      <a:r>
                        <a:rPr lang="en-US" sz="1050" baseline="0" dirty="0"/>
                        <a:t> the ideal optimal allocations for the cluster, and moves the pods using a custom scheduler plugin (assigns custom score).</a:t>
                      </a:r>
                      <a:endParaRPr lang="en-US" sz="105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Karpenter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consolidates the cluster when: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node is 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underutilized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all its pods can run on free capacity of other nodes in the cluster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Its pods can run on a combination of free capacity of other nodes in the cluster and a single lower price replacement node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 marL="137355" marR="137355" marT="68678" marB="68678" anchor="ctr"/>
                </a:tc>
                <a:extLst>
                  <a:ext uri="{0D108BD9-81ED-4DB2-BD59-A6C34878D82A}">
                    <a16:rowId xmlns:a16="http://schemas.microsoft.com/office/drawing/2014/main" val="2418803453"/>
                  </a:ext>
                </a:extLst>
              </a:tr>
              <a:tr h="6949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 of solution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❓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❓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guarantees - It does not handle the re-schedule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optimal solution</a:t>
                      </a:r>
                      <a:r>
                        <a:rPr lang="en-US" sz="1050" baseline="0" dirty="0"/>
                        <a:t> - very slow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050" baseline="0" dirty="0"/>
                    </a:p>
                    <a:p>
                      <a:pPr algn="ctr"/>
                      <a:r>
                        <a:rPr lang="en-US" sz="1050" dirty="0"/>
                        <a:t>heuristics based</a:t>
                      </a:r>
                      <a:r>
                        <a:rPr lang="en-US" sz="1050" baseline="0" dirty="0"/>
                        <a:t> - </a:t>
                      </a:r>
                      <a:r>
                        <a:rPr lang="en-US" sz="1050" dirty="0"/>
                        <a:t>good enough,</a:t>
                      </a:r>
                      <a:r>
                        <a:rPr lang="en-US" sz="1050" baseline="0" dirty="0"/>
                        <a:t> fast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n-US" sz="105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heuristic based - g</a:t>
                      </a:r>
                      <a:r>
                        <a:rPr lang="en-US" sz="1050" dirty="0"/>
                        <a:t>ood</a:t>
                      </a:r>
                      <a:r>
                        <a:rPr lang="en-US" sz="1050" baseline="0" dirty="0"/>
                        <a:t> enough, fast </a:t>
                      </a:r>
                      <a:r>
                        <a:rPr lang="en-US" sz="1200" dirty="0"/>
                        <a:t>✅</a:t>
                      </a:r>
                      <a:endParaRPr lang="en-US" sz="1050" dirty="0"/>
                    </a:p>
                  </a:txBody>
                  <a:tcPr marL="137355" marR="137355" marT="68678" marB="68678" anchor="ctr"/>
                </a:tc>
                <a:extLst>
                  <a:ext uri="{0D108BD9-81ED-4DB2-BD59-A6C34878D82A}">
                    <a16:rowId xmlns:a16="http://schemas.microsoft.com/office/drawing/2014/main" val="294583214"/>
                  </a:ext>
                </a:extLst>
              </a:tr>
              <a:tr h="10687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 it run with the default scheduler configuration?</a:t>
                      </a:r>
                    </a:p>
                    <a:p>
                      <a:pPr marL="0" algn="ctr" defTabSz="914400" rtl="0" eaLnBrk="1" latinLnBrk="0" hangingPunct="1"/>
                      <a:endParaRPr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Requires</a:t>
                      </a:r>
                      <a:r>
                        <a:rPr lang="en-US" sz="90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the use</a:t>
                      </a:r>
                      <a:r>
                        <a:rPr lang="en-US" sz="900" baseline="0" dirty="0">
                          <a:solidFill>
                            <a:srgbClr val="FF0000"/>
                          </a:solidFill>
                        </a:rPr>
                        <a:t> of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  the “</a:t>
                      </a:r>
                      <a:r>
                        <a:rPr lang="en-US" sz="900" dirty="0" err="1">
                          <a:solidFill>
                            <a:srgbClr val="FF0000"/>
                          </a:solidFill>
                        </a:rPr>
                        <a:t>MostAllocated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” scoring strategy </a:t>
                      </a:r>
                      <a:r>
                        <a:rPr lang="en-US" sz="900" dirty="0"/>
                        <a:t>for</a:t>
                      </a:r>
                      <a:r>
                        <a:rPr lang="en-US" sz="900" baseline="0" dirty="0"/>
                        <a:t> the </a:t>
                      </a:r>
                      <a:r>
                        <a:rPr lang="en-US" sz="900" dirty="0" err="1"/>
                        <a:t>NodeResourcesFit</a:t>
                      </a:r>
                      <a:r>
                        <a:rPr lang="en-US" sz="900" dirty="0"/>
                        <a:t> plugin </a:t>
                      </a:r>
                      <a:r>
                        <a:rPr lang="en-US" sz="1000" dirty="0"/>
                        <a:t>⚠️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Requires</a:t>
                      </a:r>
                      <a:r>
                        <a:rPr lang="en-US" sz="900" baseline="0" dirty="0">
                          <a:solidFill>
                            <a:srgbClr val="FF0000"/>
                          </a:solidFill>
                        </a:rPr>
                        <a:t> the use of a </a:t>
                      </a:r>
                      <a:r>
                        <a:rPr lang="en-US" sz="900" baseline="0" dirty="0" err="1">
                          <a:solidFill>
                            <a:srgbClr val="FF0000"/>
                          </a:solidFill>
                        </a:rPr>
                        <a:t>customplugin</a:t>
                      </a:r>
                      <a:r>
                        <a:rPr lang="en-US" sz="900" baseline="0" dirty="0">
                          <a:solidFill>
                            <a:srgbClr val="FF0000"/>
                          </a:solidFill>
                        </a:rPr>
                        <a:t>!</a:t>
                      </a:r>
                      <a:endParaRPr 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37355" marR="137355" marT="68678" marB="68678" anchor="ctr"/>
                </a:tc>
                <a:extLst>
                  <a:ext uri="{0D108BD9-81ED-4DB2-BD59-A6C34878D82A}">
                    <a16:rowId xmlns:a16="http://schemas.microsoft.com/office/drawing/2014/main" val="955689310"/>
                  </a:ext>
                </a:extLst>
              </a:tr>
              <a:tr h="6376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Disruptions-aware?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❓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aseline="0" dirty="0"/>
                        <a:t>rolling update</a:t>
                      </a:r>
                      <a:endParaRPr lang="en-US" sz="105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❓</a:t>
                      </a:r>
                    </a:p>
                  </a:txBody>
                  <a:tcPr marL="137355" marR="137355" marT="68678" marB="68678" anchor="ctr"/>
                </a:tc>
                <a:extLst>
                  <a:ext uri="{0D108BD9-81ED-4DB2-BD59-A6C34878D82A}">
                    <a16:rowId xmlns:a16="http://schemas.microsoft.com/office/drawing/2014/main" val="2204220509"/>
                  </a:ext>
                </a:extLst>
              </a:tr>
              <a:tr h="5924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Supported providers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All of them 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All of them</a:t>
                      </a:r>
                      <a:r>
                        <a:rPr lang="en-US" sz="1050" baseline="0" dirty="0"/>
                        <a:t> (as long as you can enable the scoring strategy – or deploy a custom scheduler)</a:t>
                      </a:r>
                      <a:endParaRPr lang="en-US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All</a:t>
                      </a:r>
                      <a:r>
                        <a:rPr lang="en-US" sz="1050" baseline="0" dirty="0"/>
                        <a:t> of them (as long as you can use the scoring plugin – maybe deploy </a:t>
                      </a:r>
                      <a:r>
                        <a:rPr lang="en-US" sz="1050" baseline="0"/>
                        <a:t>a second custom scheduler?)</a:t>
                      </a:r>
                      <a:endParaRPr lang="en-US" sz="1050" dirty="0"/>
                    </a:p>
                  </a:txBody>
                  <a:tcPr marL="137355" marR="137355" marT="68678" marB="68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 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pPr algn="ctr"/>
                      <a:r>
                        <a:rPr lang="en-US" sz="1050" dirty="0"/>
                        <a:t>AWS/EKS,</a:t>
                      </a:r>
                      <a:r>
                        <a:rPr lang="en-US" sz="1050" baseline="0" dirty="0"/>
                        <a:t> Oracle OKE,  Azure, …</a:t>
                      </a:r>
                      <a:endParaRPr lang="en-US" sz="1050" dirty="0"/>
                    </a:p>
                  </a:txBody>
                  <a:tcPr marL="137355" marR="137355" marT="68678" marB="68678" anchor="ctr"/>
                </a:tc>
                <a:extLst>
                  <a:ext uri="{0D108BD9-81ED-4DB2-BD59-A6C34878D82A}">
                    <a16:rowId xmlns:a16="http://schemas.microsoft.com/office/drawing/2014/main" val="58605750"/>
                  </a:ext>
                </a:extLst>
              </a:tr>
            </a:tbl>
          </a:graphicData>
        </a:graphic>
      </p:graphicFrame>
      <p:pic>
        <p:nvPicPr>
          <p:cNvPr id="11" name="Picture 4" descr="descheduler">
            <a:extLst>
              <a:ext uri="{FF2B5EF4-FFF2-40B4-BE49-F238E27FC236}">
                <a16:creationId xmlns:a16="http://schemas.microsoft.com/office/drawing/2014/main" id="{E7390D20-3A34-56B5-72C3-11B6202EC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895" y="116478"/>
            <a:ext cx="1135850" cy="58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mazon ECR Public Gallery - Karpenter/karpenter">
            <a:extLst>
              <a:ext uri="{FF2B5EF4-FFF2-40B4-BE49-F238E27FC236}">
                <a16:creationId xmlns:a16="http://schemas.microsoft.com/office/drawing/2014/main" id="{EAE5675A-6388-7C2E-B25B-815EE30EE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941" y="141650"/>
            <a:ext cx="532451" cy="53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ool - Free construction and tools icons">
            <a:extLst>
              <a:ext uri="{FF2B5EF4-FFF2-40B4-BE49-F238E27FC236}">
                <a16:creationId xmlns:a16="http://schemas.microsoft.com/office/drawing/2014/main" id="{517FE9E3-EA85-8669-549E-CCF81F5D0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60" y="116478"/>
            <a:ext cx="582797" cy="58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06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163</TotalTime>
  <Words>317</Words>
  <Application>Microsoft Macintosh PowerPoint</Application>
  <PresentationFormat>Widescreen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Buonaurio</dc:creator>
  <cp:lastModifiedBy>Andrea Buonaurio</cp:lastModifiedBy>
  <cp:revision>11</cp:revision>
  <dcterms:created xsi:type="dcterms:W3CDTF">2026-05-15T06:54:51Z</dcterms:created>
  <dcterms:modified xsi:type="dcterms:W3CDTF">2026-05-15T13:25:41Z</dcterms:modified>
</cp:coreProperties>
</file>